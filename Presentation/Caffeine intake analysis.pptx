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armattan" charset="1" panose="01000503000000020003"/>
      <p:regular r:id="rId13"/>
    </p:embeddedFont>
    <p:embeddedFont>
      <p:font typeface="Maragsa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5077589" y="-862671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5" y="0"/>
                </a:lnTo>
                <a:lnTo>
                  <a:pt x="20248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1284033" y="700629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55237" y="369093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516980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13212" y="5257800"/>
            <a:ext cx="13061577" cy="777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1"/>
              </a:lnSpc>
            </a:pPr>
            <a:r>
              <a:rPr lang="en-US" sz="5851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How caffeine consumption relates to focus &amp; sleep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23742" y="3500436"/>
            <a:ext cx="14440516" cy="166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spc="67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CAFFEINE INTAKE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67867" y="7295195"/>
            <a:ext cx="5906921" cy="110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68"/>
              </a:lnSpc>
            </a:pPr>
            <a:r>
              <a:rPr lang="en-US" sz="4268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Johnathan Nguyen</a:t>
            </a:r>
          </a:p>
          <a:p>
            <a:pPr algn="r">
              <a:lnSpc>
                <a:spcPts val="4268"/>
              </a:lnSpc>
            </a:pPr>
            <a:r>
              <a:rPr lang="en-US" sz="4268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Foundations of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88920" y="985710"/>
            <a:ext cx="9411381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DATA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8920" y="2061401"/>
            <a:ext cx="4020569" cy="68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9"/>
              </a:lnSpc>
            </a:pPr>
            <a:r>
              <a:rPr lang="en-US" sz="3821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Dataset Information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8920" y="2655393"/>
            <a:ext cx="12146704" cy="189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500 Observations, 13 Variables</a:t>
            </a:r>
          </a:p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Included Caffeine Intake, Focus level, sleep quality, sleep impact, beverage choice, gender, and time of day.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8920" y="4567672"/>
            <a:ext cx="4020569" cy="68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9"/>
              </a:lnSpc>
            </a:pPr>
            <a:r>
              <a:rPr lang="en-US" sz="3821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Variables Types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8920" y="5161665"/>
            <a:ext cx="13041718" cy="125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Numerical: caffeine_mg (scaled), age (scaled 0-1), focus, sleep_quality</a:t>
            </a:r>
          </a:p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Categorical: beverage types, gender, time of day, sleep impacted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88920" y="6555572"/>
            <a:ext cx="4020569" cy="68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9"/>
              </a:lnSpc>
            </a:pPr>
            <a:r>
              <a:rPr lang="en-US" sz="3821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Data Cleaning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88920" y="7146865"/>
            <a:ext cx="13041718" cy="254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No missing values</a:t>
            </a:r>
          </a:p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Caffeine Scaled from 0-1 → mg (0-1000 mg)</a:t>
            </a:r>
          </a:p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Age kept on 0-1 scale but interpreted as approx 0-100 years old</a:t>
            </a:r>
          </a:p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Data Tidy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25841" y="1212437"/>
            <a:ext cx="13204798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INTERESTING STATISTICS &amp; PATTERNS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490398" y="2274157"/>
            <a:ext cx="12118849" cy="7161990"/>
            <a:chOff x="0" y="0"/>
            <a:chExt cx="16158466" cy="954932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5783735" cy="968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0"/>
                </a:lnSpc>
              </a:pPr>
              <a:r>
                <a:rPr lang="en-US" sz="4192" u="sng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Key Numerical Insights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26041"/>
              <a:ext cx="15049559" cy="2482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25596" indent="-362798" lvl="1">
                <a:lnSpc>
                  <a:spcPts val="5074"/>
                </a:lnSpc>
                <a:buFont typeface="Arial"/>
                <a:buChar char="•"/>
              </a:pPr>
              <a:r>
                <a:rPr lang="en-US" sz="3360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Median Caffeine Intake: 290.9 mg</a:t>
              </a:r>
            </a:p>
            <a:p>
              <a:pPr algn="l" marL="725596" indent="-362798" lvl="1">
                <a:lnSpc>
                  <a:spcPts val="5074"/>
                </a:lnSpc>
                <a:buFont typeface="Arial"/>
                <a:buChar char="•"/>
              </a:pPr>
              <a:r>
                <a:rPr lang="en-US" sz="3360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Most People Fall between 200-300 mg range</a:t>
              </a:r>
            </a:p>
            <a:p>
              <a:pPr algn="l" marL="725596" indent="-362798" lvl="1">
                <a:lnSpc>
                  <a:spcPts val="5074"/>
                </a:lnSpc>
                <a:buFont typeface="Arial"/>
                <a:buChar char="•"/>
              </a:pPr>
              <a:r>
                <a:rPr lang="en-US" sz="3360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Sleep Quality Median: 0.64 (Slightly above average)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535190"/>
              <a:ext cx="4981416" cy="968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0"/>
                </a:lnSpc>
              </a:pPr>
              <a:r>
                <a:rPr lang="en-US" sz="4192" u="sng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Interesting Finds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485056"/>
              <a:ext cx="16158466" cy="1620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25424" indent="-362712" lvl="1">
                <a:lnSpc>
                  <a:spcPts val="5073"/>
                </a:lnSpc>
                <a:buFont typeface="Arial"/>
                <a:buChar char="•"/>
              </a:pPr>
              <a:r>
                <a:rPr lang="en-US" sz="3359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Age distribution was even across the 0-1 scale</a:t>
              </a:r>
            </a:p>
            <a:p>
              <a:pPr algn="l" marL="725424" indent="-362712" lvl="1">
                <a:lnSpc>
                  <a:spcPts val="5073"/>
                </a:lnSpc>
                <a:buFont typeface="Arial"/>
                <a:buChar char="•"/>
              </a:pPr>
              <a:r>
                <a:rPr lang="en-US" sz="3359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No extreme outliers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116507"/>
              <a:ext cx="8348883" cy="968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30"/>
                </a:lnSpc>
              </a:pPr>
              <a:r>
                <a:rPr lang="en-US" sz="4192" u="sng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Summary Statistics Helpfullness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066373"/>
              <a:ext cx="16158466" cy="2482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25596" indent="-362798" lvl="1">
                <a:lnSpc>
                  <a:spcPts val="5074"/>
                </a:lnSpc>
                <a:buFont typeface="Arial"/>
                <a:buChar char="•"/>
              </a:pPr>
              <a:r>
                <a:rPr lang="en-US" sz="3360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Weak positive correlation between caffeine &amp; focus</a:t>
              </a:r>
            </a:p>
            <a:p>
              <a:pPr algn="l" marL="725596" indent="-362798" lvl="1">
                <a:lnSpc>
                  <a:spcPts val="5074"/>
                </a:lnSpc>
                <a:buFont typeface="Arial"/>
                <a:buChar char="•"/>
              </a:pPr>
              <a:r>
                <a:rPr lang="en-US" sz="3360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Weak negative correlation between caffeine &amp; sleep</a:t>
              </a:r>
            </a:p>
            <a:p>
              <a:pPr algn="l" marL="725596" indent="-362798" lvl="1">
                <a:lnSpc>
                  <a:spcPts val="5074"/>
                </a:lnSpc>
                <a:buFont typeface="Arial"/>
                <a:buChar char="•"/>
              </a:pPr>
              <a:r>
                <a:rPr lang="en-US" sz="3360">
                  <a:solidFill>
                    <a:srgbClr val="230E0E"/>
                  </a:solidFill>
                  <a:latin typeface="Harmattan"/>
                  <a:ea typeface="Harmattan"/>
                  <a:cs typeface="Harmattan"/>
                  <a:sym typeface="Harmattan"/>
                </a:rPr>
                <a:t>No gender differences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488920" y="3301851"/>
            <a:ext cx="6960607" cy="2683341"/>
            <a:chOff x="0" y="0"/>
            <a:chExt cx="1833246" cy="7067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3246" cy="706724"/>
            </a:xfrm>
            <a:custGeom>
              <a:avLst/>
              <a:gdLst/>
              <a:ahLst/>
              <a:cxnLst/>
              <a:rect r="r" b="b" t="t" l="l"/>
              <a:pathLst>
                <a:path h="706724" w="1833246">
                  <a:moveTo>
                    <a:pt x="0" y="0"/>
                  </a:moveTo>
                  <a:lnTo>
                    <a:pt x="1833246" y="0"/>
                  </a:lnTo>
                  <a:lnTo>
                    <a:pt x="1833246" y="706724"/>
                  </a:lnTo>
                  <a:lnTo>
                    <a:pt x="0" y="706724"/>
                  </a:lnTo>
                  <a:close/>
                </a:path>
              </a:pathLst>
            </a:custGeom>
            <a:solidFill>
              <a:srgbClr val="DFD0B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33246" cy="744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539480" y="2290408"/>
            <a:ext cx="6332726" cy="3914367"/>
          </a:xfrm>
          <a:custGeom>
            <a:avLst/>
            <a:gdLst/>
            <a:ahLst/>
            <a:cxnLst/>
            <a:rect r="r" b="b" t="t" l="l"/>
            <a:pathLst>
              <a:path h="3914367" w="6332726">
                <a:moveTo>
                  <a:pt x="0" y="0"/>
                </a:moveTo>
                <a:lnTo>
                  <a:pt x="6332726" y="0"/>
                </a:lnTo>
                <a:lnTo>
                  <a:pt x="6332726" y="3914368"/>
                </a:lnTo>
                <a:lnTo>
                  <a:pt x="0" y="39143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488920" y="6204776"/>
            <a:ext cx="6960607" cy="2720005"/>
            <a:chOff x="0" y="0"/>
            <a:chExt cx="1833246" cy="7163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3246" cy="716380"/>
            </a:xfrm>
            <a:custGeom>
              <a:avLst/>
              <a:gdLst/>
              <a:ahLst/>
              <a:cxnLst/>
              <a:rect r="r" b="b" t="t" l="l"/>
              <a:pathLst>
                <a:path h="716380" w="1833246">
                  <a:moveTo>
                    <a:pt x="0" y="0"/>
                  </a:moveTo>
                  <a:lnTo>
                    <a:pt x="1833246" y="0"/>
                  </a:lnTo>
                  <a:lnTo>
                    <a:pt x="1833246" y="716380"/>
                  </a:lnTo>
                  <a:lnTo>
                    <a:pt x="0" y="716380"/>
                  </a:lnTo>
                  <a:close/>
                </a:path>
              </a:pathLst>
            </a:custGeom>
            <a:solidFill>
              <a:srgbClr val="DFD0B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33246" cy="754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959332" y="5985193"/>
            <a:ext cx="5493022" cy="3395332"/>
          </a:xfrm>
          <a:custGeom>
            <a:avLst/>
            <a:gdLst/>
            <a:ahLst/>
            <a:cxnLst/>
            <a:rect r="r" b="b" t="t" l="l"/>
            <a:pathLst>
              <a:path h="3395332" w="5493022">
                <a:moveTo>
                  <a:pt x="0" y="0"/>
                </a:moveTo>
                <a:lnTo>
                  <a:pt x="5493023" y="0"/>
                </a:lnTo>
                <a:lnTo>
                  <a:pt x="5493023" y="3395332"/>
                </a:lnTo>
                <a:lnTo>
                  <a:pt x="0" y="33953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325841" y="1422305"/>
            <a:ext cx="9411381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VISUALS &amp; ANALYSIS (1/2)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8920" y="2284421"/>
            <a:ext cx="4020569" cy="79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3"/>
              </a:lnSpc>
            </a:pPr>
            <a:r>
              <a:rPr lang="en-US" sz="4399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Caffeine Intake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88920" y="4023551"/>
            <a:ext cx="6960607" cy="189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Most participants consume 177-518mg</a:t>
            </a:r>
          </a:p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Some people reached above 800 mg, indicating heaving caffeine use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26505" y="3322113"/>
            <a:ext cx="3052791" cy="7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2"/>
              </a:lnSpc>
            </a:pPr>
            <a:r>
              <a:rPr lang="en-US" sz="4200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Box Plot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78873" y="6881051"/>
            <a:ext cx="6960607" cy="189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Slight upward trend</a:t>
            </a:r>
          </a:p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Weak positive correlation</a:t>
            </a:r>
          </a:p>
          <a:p>
            <a:pPr algn="l" marL="733625" indent="-366813" lvl="1">
              <a:lnSpc>
                <a:spcPts val="5130"/>
              </a:lnSpc>
              <a:buFont typeface="Arial"/>
              <a:buChar char="•"/>
            </a:pPr>
            <a:r>
              <a:rPr lang="en-US" sz="3397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More caffeine = slightly better focus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78873" y="6232843"/>
            <a:ext cx="4331148" cy="7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2"/>
              </a:lnSpc>
            </a:pPr>
            <a:r>
              <a:rPr lang="en-US" sz="4200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Caffeine vs Focus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493148" y="2209877"/>
            <a:ext cx="6650852" cy="2725664"/>
            <a:chOff x="0" y="0"/>
            <a:chExt cx="1751665" cy="717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51665" cy="717870"/>
            </a:xfrm>
            <a:custGeom>
              <a:avLst/>
              <a:gdLst/>
              <a:ahLst/>
              <a:cxnLst/>
              <a:rect r="r" b="b" t="t" l="l"/>
              <a:pathLst>
                <a:path h="717870" w="1751665">
                  <a:moveTo>
                    <a:pt x="0" y="0"/>
                  </a:moveTo>
                  <a:lnTo>
                    <a:pt x="1751665" y="0"/>
                  </a:lnTo>
                  <a:lnTo>
                    <a:pt x="1751665" y="717870"/>
                  </a:lnTo>
                  <a:lnTo>
                    <a:pt x="0" y="717870"/>
                  </a:lnTo>
                  <a:close/>
                </a:path>
              </a:pathLst>
            </a:custGeom>
            <a:solidFill>
              <a:srgbClr val="DFD0B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51665" cy="755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93148" y="5145091"/>
            <a:ext cx="6650852" cy="2067755"/>
            <a:chOff x="0" y="0"/>
            <a:chExt cx="1751665" cy="5445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1665" cy="544594"/>
            </a:xfrm>
            <a:custGeom>
              <a:avLst/>
              <a:gdLst/>
              <a:ahLst/>
              <a:cxnLst/>
              <a:rect r="r" b="b" t="t" l="l"/>
              <a:pathLst>
                <a:path h="544594" w="1751665">
                  <a:moveTo>
                    <a:pt x="0" y="0"/>
                  </a:moveTo>
                  <a:lnTo>
                    <a:pt x="1751665" y="0"/>
                  </a:lnTo>
                  <a:lnTo>
                    <a:pt x="1751665" y="544594"/>
                  </a:lnTo>
                  <a:lnTo>
                    <a:pt x="0" y="544594"/>
                  </a:lnTo>
                  <a:close/>
                </a:path>
              </a:pathLst>
            </a:custGeom>
            <a:solidFill>
              <a:srgbClr val="DFD0B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51665" cy="582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45023" y="7489071"/>
            <a:ext cx="6632591" cy="2310553"/>
            <a:chOff x="0" y="0"/>
            <a:chExt cx="1746855" cy="6085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46855" cy="608541"/>
            </a:xfrm>
            <a:custGeom>
              <a:avLst/>
              <a:gdLst/>
              <a:ahLst/>
              <a:cxnLst/>
              <a:rect r="r" b="b" t="t" l="l"/>
              <a:pathLst>
                <a:path h="608541" w="1746855">
                  <a:moveTo>
                    <a:pt x="0" y="0"/>
                  </a:moveTo>
                  <a:lnTo>
                    <a:pt x="1746855" y="0"/>
                  </a:lnTo>
                  <a:lnTo>
                    <a:pt x="1746855" y="608541"/>
                  </a:lnTo>
                  <a:lnTo>
                    <a:pt x="0" y="608541"/>
                  </a:lnTo>
                  <a:close/>
                </a:path>
              </a:pathLst>
            </a:custGeom>
            <a:solidFill>
              <a:srgbClr val="DFD0B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46855" cy="646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423575" y="2286873"/>
            <a:ext cx="6646795" cy="4108499"/>
          </a:xfrm>
          <a:custGeom>
            <a:avLst/>
            <a:gdLst/>
            <a:ahLst/>
            <a:cxnLst/>
            <a:rect r="r" b="b" t="t" l="l"/>
            <a:pathLst>
              <a:path h="4108499" w="6646795">
                <a:moveTo>
                  <a:pt x="0" y="0"/>
                </a:moveTo>
                <a:lnTo>
                  <a:pt x="6646795" y="0"/>
                </a:lnTo>
                <a:lnTo>
                  <a:pt x="6646795" y="4108499"/>
                </a:lnTo>
                <a:lnTo>
                  <a:pt x="0" y="41084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701489" y="6204776"/>
            <a:ext cx="5981095" cy="3697018"/>
          </a:xfrm>
          <a:custGeom>
            <a:avLst/>
            <a:gdLst/>
            <a:ahLst/>
            <a:cxnLst/>
            <a:rect r="r" b="b" t="t" l="l"/>
            <a:pathLst>
              <a:path h="3697018" w="5981095">
                <a:moveTo>
                  <a:pt x="0" y="0"/>
                </a:moveTo>
                <a:lnTo>
                  <a:pt x="5981096" y="0"/>
                </a:lnTo>
                <a:lnTo>
                  <a:pt x="5981096" y="3697018"/>
                </a:lnTo>
                <a:lnTo>
                  <a:pt x="0" y="36970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325841" y="1105612"/>
            <a:ext cx="9411381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VISUALS &amp; ANALYSIS (2/2)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11409" y="2732884"/>
            <a:ext cx="6650852" cy="202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970" indent="-290985" lvl="1">
              <a:lnSpc>
                <a:spcPts val="4070"/>
              </a:lnSpc>
              <a:buFont typeface="Arial"/>
              <a:buChar char="•"/>
            </a:pPr>
            <a:r>
              <a:rPr lang="en-US" sz="269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Weak Negative Relationship</a:t>
            </a:r>
          </a:p>
          <a:p>
            <a:pPr algn="l" marL="581970" indent="-290985" lvl="1">
              <a:lnSpc>
                <a:spcPts val="4070"/>
              </a:lnSpc>
              <a:buFont typeface="Arial"/>
              <a:buChar char="•"/>
            </a:pPr>
            <a:r>
              <a:rPr lang="en-US" sz="269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As caffeine increases, Sleep quality slightly decreases</a:t>
            </a:r>
          </a:p>
          <a:p>
            <a:pPr algn="l" marL="581970" indent="-290985" lvl="1">
              <a:lnSpc>
                <a:spcPts val="4070"/>
              </a:lnSpc>
              <a:buFont typeface="Arial"/>
              <a:buChar char="•"/>
            </a:pPr>
            <a:r>
              <a:rPr lang="en-US" sz="269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Correlation: -0.36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97687" y="2182098"/>
            <a:ext cx="5726555" cy="62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7"/>
              </a:lnSpc>
            </a:pPr>
            <a:r>
              <a:rPr lang="en-US" sz="3455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Sleep Quality vs Caffeine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11409" y="5651335"/>
            <a:ext cx="6632591" cy="1512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587" indent="-291794" lvl="1">
              <a:lnSpc>
                <a:spcPts val="4081"/>
              </a:lnSpc>
              <a:buFont typeface="Arial"/>
              <a:buChar char="•"/>
            </a:pPr>
            <a:r>
              <a:rPr lang="en-US" sz="2703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Nearly Identical</a:t>
            </a:r>
          </a:p>
          <a:p>
            <a:pPr algn="l" marL="583587" indent="-291794" lvl="1">
              <a:lnSpc>
                <a:spcPts val="4081"/>
              </a:lnSpc>
              <a:buFont typeface="Arial"/>
              <a:buChar char="•"/>
            </a:pPr>
            <a:r>
              <a:rPr lang="en-US" sz="2703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Suggests caffeine affects males and females equally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64362" y="5126041"/>
            <a:ext cx="5674680" cy="62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1"/>
              </a:lnSpc>
            </a:pPr>
            <a:r>
              <a:rPr lang="en-US" sz="3464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Sleep Quality by Gender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78637" y="8110280"/>
            <a:ext cx="6598977" cy="151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077"/>
              </a:lnSpc>
              <a:buFont typeface="Arial"/>
              <a:buChar char="•"/>
            </a:pPr>
            <a:r>
              <a:rPr lang="en-US" sz="2700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Evening drinkers show lower sleep quality</a:t>
            </a:r>
          </a:p>
          <a:p>
            <a:pPr algn="l" marL="582930" indent="-291465" lvl="1">
              <a:lnSpc>
                <a:spcPts val="4077"/>
              </a:lnSpc>
              <a:buFont typeface="Arial"/>
              <a:buChar char="•"/>
            </a:pPr>
            <a:r>
              <a:rPr lang="en-US" sz="2700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Morning/Afternoon consumers have very similiar medians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64362" y="7507899"/>
            <a:ext cx="5641066" cy="62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3459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Sleep Quality by Time of Day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06816" y="1904365"/>
            <a:ext cx="6265709" cy="4219727"/>
            <a:chOff x="0" y="0"/>
            <a:chExt cx="1650228" cy="11113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0228" cy="1111368"/>
            </a:xfrm>
            <a:custGeom>
              <a:avLst/>
              <a:gdLst/>
              <a:ahLst/>
              <a:cxnLst/>
              <a:rect r="r" b="b" t="t" l="l"/>
              <a:pathLst>
                <a:path h="1111368" w="1650228">
                  <a:moveTo>
                    <a:pt x="0" y="0"/>
                  </a:moveTo>
                  <a:lnTo>
                    <a:pt x="1650228" y="0"/>
                  </a:lnTo>
                  <a:lnTo>
                    <a:pt x="1650228" y="1111368"/>
                  </a:lnTo>
                  <a:lnTo>
                    <a:pt x="0" y="1111368"/>
                  </a:lnTo>
                  <a:close/>
                </a:path>
              </a:pathLst>
            </a:custGeom>
            <a:solidFill>
              <a:srgbClr val="DFD0B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50228" cy="1149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54441" y="800100"/>
            <a:ext cx="9411381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RESULTS &amp; CONCLUSIONS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35416" y="1852085"/>
            <a:ext cx="6137338" cy="75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0"/>
              </a:lnSpc>
            </a:pPr>
            <a:r>
              <a:rPr lang="en-US" sz="4192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Overall Findings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35416" y="2595333"/>
            <a:ext cx="6137338" cy="317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Caffeine Improves Focus</a:t>
            </a:r>
          </a:p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Higher Caffeine intake decreases sleep quality</a:t>
            </a:r>
          </a:p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Gender has no impact</a:t>
            </a:r>
          </a:p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Time of day shows small differences (evening being the worse)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506816" y="6552272"/>
            <a:ext cx="6265709" cy="2241415"/>
            <a:chOff x="0" y="0"/>
            <a:chExt cx="1650228" cy="5903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0228" cy="590332"/>
            </a:xfrm>
            <a:custGeom>
              <a:avLst/>
              <a:gdLst/>
              <a:ahLst/>
              <a:cxnLst/>
              <a:rect r="r" b="b" t="t" l="l"/>
              <a:pathLst>
                <a:path h="590332" w="1650228">
                  <a:moveTo>
                    <a:pt x="0" y="0"/>
                  </a:moveTo>
                  <a:lnTo>
                    <a:pt x="1650228" y="0"/>
                  </a:lnTo>
                  <a:lnTo>
                    <a:pt x="1650228" y="590332"/>
                  </a:lnTo>
                  <a:lnTo>
                    <a:pt x="0" y="590332"/>
                  </a:lnTo>
                  <a:close/>
                </a:path>
              </a:pathLst>
            </a:custGeom>
            <a:solidFill>
              <a:srgbClr val="DFD0B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50228" cy="628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735416" y="6578384"/>
            <a:ext cx="6137338" cy="75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0"/>
              </a:lnSpc>
            </a:pPr>
            <a:r>
              <a:rPr lang="en-US" sz="4192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Were Questions Answered?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54441" y="7345337"/>
            <a:ext cx="6589559" cy="104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Found clear trends in focus and sleep</a:t>
            </a:r>
          </a:p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Trends were weak but consistent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39953" y="2785174"/>
            <a:ext cx="6265709" cy="2321775"/>
            <a:chOff x="0" y="0"/>
            <a:chExt cx="1650228" cy="611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50228" cy="611496"/>
            </a:xfrm>
            <a:custGeom>
              <a:avLst/>
              <a:gdLst/>
              <a:ahLst/>
              <a:cxnLst/>
              <a:rect r="r" b="b" t="t" l="l"/>
              <a:pathLst>
                <a:path h="611496" w="1650228">
                  <a:moveTo>
                    <a:pt x="0" y="0"/>
                  </a:moveTo>
                  <a:lnTo>
                    <a:pt x="1650228" y="0"/>
                  </a:lnTo>
                  <a:lnTo>
                    <a:pt x="1650228" y="611496"/>
                  </a:lnTo>
                  <a:lnTo>
                    <a:pt x="0" y="611496"/>
                  </a:lnTo>
                  <a:close/>
                </a:path>
              </a:pathLst>
            </a:custGeom>
            <a:solidFill>
              <a:srgbClr val="DFD0B8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50228" cy="649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286625" y="2732894"/>
            <a:ext cx="5839195" cy="75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0"/>
              </a:lnSpc>
            </a:pPr>
            <a:r>
              <a:rPr lang="en-US" sz="4192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What didn’t work / Limitations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0" y="3404597"/>
            <a:ext cx="6261662" cy="157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Age was scaled (Unknown real ages)</a:t>
            </a:r>
          </a:p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Correlations were weak</a:t>
            </a:r>
          </a:p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Self-reported data was possibly biased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0" y="5667929"/>
            <a:ext cx="6265709" cy="2431525"/>
            <a:chOff x="0" y="0"/>
            <a:chExt cx="1650228" cy="6404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50228" cy="640402"/>
            </a:xfrm>
            <a:custGeom>
              <a:avLst/>
              <a:gdLst/>
              <a:ahLst/>
              <a:cxnLst/>
              <a:rect r="r" b="b" t="t" l="l"/>
              <a:pathLst>
                <a:path h="640402" w="1650228">
                  <a:moveTo>
                    <a:pt x="0" y="0"/>
                  </a:moveTo>
                  <a:lnTo>
                    <a:pt x="1650228" y="0"/>
                  </a:lnTo>
                  <a:lnTo>
                    <a:pt x="1650228" y="640402"/>
                  </a:lnTo>
                  <a:lnTo>
                    <a:pt x="0" y="640402"/>
                  </a:lnTo>
                  <a:close/>
                </a:path>
              </a:pathLst>
            </a:custGeom>
            <a:solidFill>
              <a:srgbClr val="DFD0B8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650228" cy="678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320428" y="5656561"/>
            <a:ext cx="6261662" cy="75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0"/>
              </a:lnSpc>
            </a:pPr>
            <a:r>
              <a:rPr lang="en-US" sz="4192" u="sng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Future Work?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0" y="6328264"/>
            <a:ext cx="6261662" cy="157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Uses real age values</a:t>
            </a:r>
          </a:p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Compare based on daily routines</a:t>
            </a:r>
          </a:p>
          <a:p>
            <a:pPr algn="l" marL="604519" indent="-302260" lvl="1">
              <a:lnSpc>
                <a:spcPts val="4227"/>
              </a:lnSpc>
              <a:buFont typeface="Arial"/>
              <a:buChar char="•"/>
            </a:pPr>
            <a:r>
              <a:rPr lang="en-US" sz="2799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Explore sleep duration not just quality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5077589" y="-862671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5" y="0"/>
                </a:lnTo>
                <a:lnTo>
                  <a:pt x="20248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1284033" y="700629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55237" y="369093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516980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48318" y="3647139"/>
            <a:ext cx="12991364" cy="265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31"/>
              </a:lnSpc>
            </a:pPr>
            <a:r>
              <a:rPr lang="en-US" sz="15594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DAG44VwUTqQ</dc:identifier>
  <dcterms:modified xsi:type="dcterms:W3CDTF">2011-08-01T06:04:30Z</dcterms:modified>
  <cp:revision>1</cp:revision>
  <dc:title>Caffeine intake analysis</dc:title>
</cp:coreProperties>
</file>